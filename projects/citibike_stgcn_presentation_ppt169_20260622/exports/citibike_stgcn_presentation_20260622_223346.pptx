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本次汇报的主题是 Citi Bike 区域净流量预测与调度风险识别。重点不是预测全市订单总量，而是识别下一小时哪些区域会缺车、哪些区域会满桩。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这一页先说明问题转向。全市订单量预测不能直接指导调度；区域净流量可以把预测结果转化为补车、移车和预留空桩的动作。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这一页展示模型对比。STGCN 的 RMSE 最低，R2 最高，说明它在区域净流量预测上优于 MLP、Random Forest、HistGradientBoosting 和 Ridge。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这一页说明空间特征有效但不是主驱动。完整特征组优于 temporal_only，去掉地铁特征会使 RMSE 变差，但 map_only 的效果很弱。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这一页解释模型主要靠什么预测。当前 net_flow、小时周期和历史 lag 是主要变量，地铁站数量进入前十，说明它提供区域差异修正。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这一页证明训练过程可靠。训练集和验证集 loss 都稳定下降，没有明显发散，所以后续预测和风险分析有基础。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这一页看真实值和预测值是否匹配。大部分样本沿对角线分布，说明整体方向一致；极端净流量仍是困难样本。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这一页说明误差与时间相关。早晚高峰误差更高，说明通勤时段区域流动更集中，也更需要提前调度。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这一页把预测转成运营动作。缺车风险主要对应晚高峰补车，满桩风险主要对应早高峰移车或预留空桩，两类风险要分开排序。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最后一页给出落地结论。最高风险集中在 40.76_-73.98 周边，同一区域在早晚高峰呈现相反车辆压力，模型可以输出何时、何地、做什么的调度清单。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4f26e0b8a13e90f.png"/>
  <Relationship Id="rId3" Type="http://schemas.openxmlformats.org/officeDocument/2006/relationships/image" Target="../media/image_ba6227802cd61ed2.png"/>
  <Relationship Id="rId4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fa2625320cba3e07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2431490f1e9d2c9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8ebb09a2c01acf2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69c9977c59dd1a1d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15fcf5deb75a638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180691a73869fa59.png"/>
  <Relationship Id="rId3" Type="http://schemas.openxmlformats.org/officeDocument/2006/relationships/image" Target="../media/image_51a1b71f514a5d8c.png"/>
  <Relationship Id="rId4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638b6a8ed4938dec.png"/>
  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23850" y="304800"/>
            <a:ext cx="11544300" cy="6248400"/>
          </a:xfrm>
          <a:prstGeom prst="roundRect">
            <a:avLst>
              <a:gd name="adj" fmla="val 2744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323850" y="304800"/>
            <a:ext cx="11544300" cy="800100"/>
          </a:xfrm>
          <a:prstGeom prst="roundRect">
            <a:avLst>
              <a:gd name="adj" fmla="val 21429"/>
            </a:avLst>
          </a:prstGeom>
          <a:solidFill>
            <a:srgbClr val="28C0CD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23850" y="876300"/>
            <a:ext cx="11544300" cy="228600"/>
          </a:xfrm>
          <a:prstGeom prst="rect">
            <a:avLst/>
          </a:prstGeom>
          <a:solidFill>
            <a:srgbClr val="28C0CD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63905" y="635318"/>
            <a:ext cx="23970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CITI BIKE · REGIONAL STGCN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2485" y="1818322"/>
            <a:ext cx="6850475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区域净流量预测与调度风险识别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1540" y="2491740"/>
            <a:ext cx="54223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距离 + OD 混合图 · Top 40 区域 · 下一小时净流量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47750" y="3352800"/>
            <a:ext cx="7715250" cy="1428750"/>
            <a:chOff x="1047750" y="3352800"/>
            <a:chExt cx="7715250" cy="1428750"/>
          </a:xfrm>
        </p:grpSpPr>
        <p:sp>
          <p:nvSpPr>
            <p:cNvPr id="9" name="Rectangle 9"/>
            <p:cNvSpPr/>
            <p:nvPr/>
          </p:nvSpPr>
          <p:spPr>
            <a:xfrm>
              <a:off x="1047750" y="3352800"/>
              <a:ext cx="1314450" cy="1428750"/>
            </a:xfrm>
            <a:prstGeom prst="roundRect">
              <a:avLst>
                <a:gd name="adj" fmla="val 11594"/>
              </a:avLst>
            </a:prstGeom>
            <a:solidFill>
              <a:srgbClr val="94808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647950" y="3352800"/>
              <a:ext cx="1314450" cy="1428750"/>
            </a:xfrm>
            <a:prstGeom prst="roundRect">
              <a:avLst>
                <a:gd name="adj" fmla="val 11594"/>
              </a:avLst>
            </a:prstGeom>
            <a:solidFill>
              <a:srgbClr val="E99E8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4248150" y="3352800"/>
              <a:ext cx="1314450" cy="1428750"/>
            </a:xfrm>
            <a:prstGeom prst="roundRect">
              <a:avLst>
                <a:gd name="adj" fmla="val 11594"/>
              </a:avLst>
            </a:prstGeom>
            <a:solidFill>
              <a:srgbClr val="0C6DB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848350" y="3352800"/>
              <a:ext cx="1314450" cy="1428750"/>
            </a:xfrm>
            <a:prstGeom prst="roundRect">
              <a:avLst>
                <a:gd name="adj" fmla="val 11594"/>
              </a:avLst>
            </a:prstGeom>
            <a:solidFill>
              <a:srgbClr val="28C0CD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448550" y="3352800"/>
              <a:ext cx="1314450" cy="1428750"/>
            </a:xfrm>
            <a:prstGeom prst="roundRect">
              <a:avLst>
                <a:gd name="adj" fmla="val 11594"/>
              </a:avLst>
            </a:prstGeom>
            <a:solidFill>
              <a:srgbClr val="E06A3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09783" y="39785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区域面板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09983" y="39785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空间特征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28323" y="3978592"/>
              <a:ext cx="5541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STGCN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10383" y="39785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风险地图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10583" y="39785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调度动作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33450" y="5467350"/>
            <a:ext cx="6648450" cy="842962"/>
            <a:chOff x="933450" y="5467350"/>
            <a:chExt cx="6648450" cy="842962"/>
          </a:xfrm>
        </p:grpSpPr>
        <p:sp>
          <p:nvSpPr>
            <p:cNvPr id="20" name="Rectangle 20"/>
            <p:cNvSpPr/>
            <p:nvPr/>
          </p:nvSpPr>
          <p:spPr>
            <a:xfrm>
              <a:off x="933450" y="5467350"/>
              <a:ext cx="2000250" cy="74295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D8DEE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933450" y="5467350"/>
              <a:ext cx="114300" cy="742950"/>
            </a:xfrm>
            <a:prstGeom prst="rect">
              <a:avLst/>
            </a:prstGeom>
            <a:solidFill>
              <a:srgbClr val="0C6DB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86815" y="5639752"/>
              <a:ext cx="7127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86070"/>
                  </a:solidFill>
                  <a:latin typeface="Arial"/>
                  <a:ea typeface="Microsoft YaHei"/>
                  <a:cs typeface="Arial"/>
                </a:rPr>
                <a:t>Best RMSE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67765" y="5792152"/>
              <a:ext cx="104664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C6DB8"/>
                  </a:solidFill>
                  <a:latin typeface="Arial"/>
                  <a:ea typeface="Microsoft YaHei"/>
                  <a:cs typeface="Arial"/>
                </a:rPr>
                <a:t>15.85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257550" y="5467350"/>
              <a:ext cx="2000250" cy="74295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D8DEE5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257550" y="5467350"/>
              <a:ext cx="114300" cy="742950"/>
            </a:xfrm>
            <a:prstGeom prst="rect">
              <a:avLst/>
            </a:prstGeom>
            <a:solidFill>
              <a:srgbClr val="28C0C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510915" y="5639752"/>
              <a:ext cx="12728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86070"/>
                  </a:solidFill>
                  <a:latin typeface="Arial"/>
                  <a:ea typeface="Microsoft YaHei"/>
                  <a:cs typeface="Arial"/>
                </a:rPr>
                <a:t>Explained variance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91865" y="5792152"/>
              <a:ext cx="104664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8C0CD"/>
                  </a:solidFill>
                  <a:latin typeface="Arial"/>
                  <a:ea typeface="Microsoft YaHei"/>
                  <a:cs typeface="Arial"/>
                </a:rPr>
                <a:t>0.872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581650" y="5467350"/>
              <a:ext cx="2000250" cy="74295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D8DEE5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581650" y="5467350"/>
              <a:ext cx="114300" cy="742950"/>
            </a:xfrm>
            <a:prstGeom prst="rect">
              <a:avLst/>
            </a:prstGeom>
            <a:solidFill>
              <a:srgbClr val="E06A3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835015" y="5639752"/>
              <a:ext cx="999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86070"/>
                  </a:solidFill>
                  <a:latin typeface="Arial"/>
                  <a:ea typeface="Microsoft YaHei"/>
                  <a:cs typeface="Arial"/>
                </a:rPr>
                <a:t>Regional nodes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815965" y="5792152"/>
              <a:ext cx="45751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E06A36"/>
                  </a:solidFill>
                  <a:latin typeface="Arial"/>
                  <a:ea typeface="Microsoft YaHei"/>
                  <a:cs typeface="Arial"/>
                </a:rPr>
                <a:t>40</a:t>
              </a:r>
            </a:p>
          </p:txBody>
        </p:sp>
      </p:grpSp>
      <p:sp>
        <p:nvSpPr>
          <p:cNvPr id="33" name="Rectangle 33"/>
          <p:cNvSpPr/>
          <p:nvPr/>
        </p:nvSpPr>
        <p:spPr>
          <a:xfrm>
            <a:off x="9696450" y="5467350"/>
            <a:ext cx="1504950" cy="457200"/>
          </a:xfrm>
          <a:prstGeom prst="roundRect">
            <a:avLst>
              <a:gd name="adj" fmla="val 50000"/>
            </a:avLst>
          </a:prstGeom>
          <a:solidFill>
            <a:srgbClr val="1D2433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0148245" y="5626418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汇报版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66700" y="323850"/>
            <a:ext cx="533400" cy="6210300"/>
          </a:xfrm>
          <a:prstGeom prst="roundRect">
            <a:avLst>
              <a:gd name="adj" fmla="val 32143"/>
            </a:avLst>
          </a:prstGeom>
          <a:solidFill>
            <a:srgbClr val="28C0C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1923" y="6248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6556" y="15821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6556" y="18869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6556" y="21917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6556" y="24965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级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43000" y="590550"/>
            <a:ext cx="10096500" cy="1809750"/>
            <a:chOff x="1143000" y="590550"/>
            <a:chExt cx="10096500" cy="1809750"/>
          </a:xfrm>
        </p:grpSpPr>
        <p:sp>
          <p:nvSpPr>
            <p:cNvPr id="9" name="Rectangle 9"/>
            <p:cNvSpPr/>
            <p:nvPr/>
          </p:nvSpPr>
          <p:spPr>
            <a:xfrm>
              <a:off x="1143000" y="590550"/>
              <a:ext cx="3333750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D8DEE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05890" y="872490"/>
              <a:ext cx="20619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C6DB8"/>
                  </a:solidFill>
                  <a:latin typeface="Arial"/>
                  <a:ea typeface="Microsoft YaHei"/>
                  <a:cs typeface="Arial"/>
                </a:rPr>
                <a:t>不是预测全市订单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11605" y="1359218"/>
              <a:ext cx="228028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城市级需求预测只能回答</a:t>
              </a:r>
              <a:r>
                <a:rPr lang="zh-CN" sz="135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“下一小时全市有多少订单”，</a:t>
              </a:r>
              <a:r>
                <a:rPr lang="zh-CN" sz="135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无法指导去哪补车或腾桩。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762500" y="590550"/>
              <a:ext cx="2857500" cy="1809750"/>
            </a:xfrm>
            <a:prstGeom prst="roundRect">
              <a:avLst>
                <a:gd name="adj" fmla="val 8421"/>
              </a:avLst>
            </a:prstGeom>
            <a:solidFill>
              <a:srgbClr val="28C0C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86280" y="929640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改成区域净流量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53963" y="1482090"/>
              <a:ext cx="207457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dropoff - pickup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905750" y="590550"/>
              <a:ext cx="3333750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D8DEE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68640" y="872490"/>
              <a:ext cx="20619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06A36"/>
                  </a:solidFill>
                  <a:latin typeface="Arial"/>
                  <a:ea typeface="Microsoft YaHei"/>
                  <a:cs typeface="Arial"/>
                </a:rPr>
                <a:t>直接转成调度动作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74355" y="1359218"/>
              <a:ext cx="20916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负值表示缺车风险，</a:t>
              </a:r>
              <a:r>
                <a:rPr lang="zh-CN" sz="135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正值表示满桩或拥堵风险，</a:t>
              </a:r>
              <a:r>
                <a:rPr lang="zh-CN" sz="135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输出就是再平衡优先级。</a:t>
              </a:r>
            </a:p>
          </p:txBody>
        </p:sp>
      </p:grpSp>
      <p:sp>
        <p:nvSpPr>
          <p:cNvPr id="19" name="Rectangle 19"/>
          <p:cNvSpPr/>
          <p:nvPr/>
        </p:nvSpPr>
        <p:spPr>
          <a:xfrm>
            <a:off x="1143000" y="2781300"/>
            <a:ext cx="4838700" cy="310515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143000" y="2781300"/>
            <a:ext cx="4838700" cy="133350"/>
          </a:xfrm>
          <a:prstGeom prst="rect">
            <a:avLst/>
          </a:prstGeom>
          <a:solidFill>
            <a:srgbClr val="0C6DB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443990" y="3139440"/>
            <a:ext cx="180994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C6DB8"/>
                </a:solidFill>
                <a:latin typeface="Arial"/>
                <a:ea typeface="Microsoft YaHei"/>
                <a:cs typeface="Arial"/>
              </a:rPr>
              <a:t>这一页要说清楚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49705" y="3645218"/>
            <a:ext cx="36347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这次实验的重点不是单纯提高全市订单量预测，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而是把预测目标换成更贴近运营决策的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“区域车辆失衡”。所以后面所有模型指标、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空间特征和风险排序，都围绕净流量展开。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362700" y="2781300"/>
            <a:ext cx="4876800" cy="310515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6362700" y="2781300"/>
            <a:ext cx="4876800" cy="133350"/>
          </a:xfrm>
          <a:prstGeom prst="rect">
            <a:avLst/>
          </a:prstGeom>
          <a:solidFill>
            <a:srgbClr val="E06A3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682740" y="31394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06A36"/>
                </a:solidFill>
                <a:latin typeface="Arial"/>
                <a:ea typeface="Microsoft YaHei"/>
                <a:cs typeface="Arial"/>
              </a:rPr>
              <a:t>实验对象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88455" y="3683318"/>
            <a:ext cx="3248977" cy="1245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55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Top 40 区域网格作为图节点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24 小时历史窗口预测下一小时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距离 kNN + 历史 OD 流量构造混合图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测试集覆盖 2026-04-07 至 2026-05-31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16739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66700" y="323850"/>
            <a:ext cx="533400" cy="6210300"/>
          </a:xfrm>
          <a:prstGeom prst="roundRect">
            <a:avLst>
              <a:gd name="adj" fmla="val 32143"/>
            </a:avLst>
          </a:prstGeom>
          <a:solidFill>
            <a:srgbClr val="0C6DB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1923" y="6248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6556" y="15440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6556" y="18488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6556" y="21536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6556" y="24584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果</a:t>
            </a:r>
          </a:p>
        </p:txBody>
      </p:sp>
      <p:sp>
        <p:nvSpPr>
          <p:cNvPr id="9" name="Rectangle 9"/>
          <p:cNvSpPr/>
          <p:nvPr/>
        </p:nvSpPr>
        <p:spPr>
          <a:xfrm>
            <a:off x="1047750" y="457200"/>
            <a:ext cx="5181600" cy="33337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778810"/>
            <a:ext cx="4895850" cy="269053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6534150" y="457200"/>
            <a:ext cx="5181600" cy="33337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pic>
        <p:nvPicPr>
          <p:cNvPr id="12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025" y="781633"/>
            <a:ext cx="4895850" cy="2684885"/>
          </a:xfrm>
          <a:prstGeom prst="rect">
            <a:avLst/>
          </a:prstGeom>
        </p:spPr>
      </p:pic>
      <p:sp>
        <p:nvSpPr>
          <p:cNvPr id="13" name="Rectangle 13"/>
          <p:cNvSpPr/>
          <p:nvPr/>
        </p:nvSpPr>
        <p:spPr>
          <a:xfrm>
            <a:off x="1047750" y="4095750"/>
            <a:ext cx="32766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1047750" y="4095750"/>
            <a:ext cx="3276600" cy="133350"/>
          </a:xfrm>
          <a:prstGeom prst="rect">
            <a:avLst/>
          </a:prstGeom>
          <a:solidFill>
            <a:srgbClr val="0C6DB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310640" y="4453890"/>
            <a:ext cx="123026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C6DB8"/>
                </a:solidFill>
                <a:latin typeface="Arial"/>
                <a:ea typeface="Microsoft YaHei"/>
                <a:cs typeface="Arial"/>
              </a:rPr>
              <a:t>RMSE 更低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6355" y="4883468"/>
            <a:ext cx="2108835" cy="5600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STGCN 的 RMSE 为 15.85，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是本轮最低。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514850" y="4095750"/>
            <a:ext cx="32766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514850" y="4095750"/>
            <a:ext cx="3276600" cy="133350"/>
          </a:xfrm>
          <a:prstGeom prst="rect">
            <a:avLst/>
          </a:prstGeom>
          <a:solidFill>
            <a:srgbClr val="28C0CD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777740" y="4453890"/>
            <a:ext cx="9026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8C0CD"/>
                </a:solidFill>
                <a:latin typeface="Arial"/>
                <a:ea typeface="Microsoft YaHei"/>
                <a:cs typeface="Arial"/>
              </a:rPr>
              <a:t>R² 更高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83455" y="4883468"/>
            <a:ext cx="2168842" cy="5600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R² 达到 0.872，说明模型能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解释更多区域净流量波动。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981950" y="4095750"/>
            <a:ext cx="32766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981950" y="4095750"/>
            <a:ext cx="3276600" cy="133350"/>
          </a:xfrm>
          <a:prstGeom prst="rect">
            <a:avLst/>
          </a:prstGeom>
          <a:solidFill>
            <a:srgbClr val="E06A3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244840" y="445389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06A36"/>
                </a:solidFill>
                <a:latin typeface="Arial"/>
                <a:ea typeface="Microsoft YaHei"/>
                <a:cs typeface="Arial"/>
              </a:rPr>
              <a:t>为什么有效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50555" y="4883468"/>
            <a:ext cx="2606040" cy="5600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STGCN 把区域之间的空间影响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纳入模型，而不是只看单区特征。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6739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66700" y="323850"/>
            <a:ext cx="533400" cy="6210300"/>
          </a:xfrm>
          <a:prstGeom prst="roundRect">
            <a:avLst>
              <a:gd name="adj" fmla="val 32143"/>
            </a:avLst>
          </a:prstGeom>
          <a:solidFill>
            <a:srgbClr val="E06A3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1923" y="6248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6556" y="15440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6556" y="18488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6556" y="21536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6556" y="24584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征</a:t>
            </a:r>
          </a:p>
        </p:txBody>
      </p:sp>
      <p:sp>
        <p:nvSpPr>
          <p:cNvPr id="9" name="Rectangle 9"/>
          <p:cNvSpPr/>
          <p:nvPr/>
        </p:nvSpPr>
        <p:spPr>
          <a:xfrm>
            <a:off x="1028700" y="400050"/>
            <a:ext cx="733425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607330"/>
            <a:ext cx="7029450" cy="4519391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8667750" y="552450"/>
            <a:ext cx="278130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8667750" y="552450"/>
            <a:ext cx="2781300" cy="133350"/>
          </a:xfrm>
          <a:prstGeom prst="rect">
            <a:avLst/>
          </a:prstGeom>
          <a:solidFill>
            <a:srgbClr val="E06A3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911590" y="8915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06A36"/>
                </a:solidFill>
                <a:latin typeface="Arial"/>
                <a:ea typeface="Microsoft YaHei"/>
                <a:cs typeface="Arial"/>
              </a:rPr>
              <a:t>要说清楚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17305" y="1340168"/>
            <a:ext cx="2357438" cy="5600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地图/地铁特征不是第一驱动，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但它们稳定改善了模型表现。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667750" y="2495550"/>
            <a:ext cx="2781300" cy="10287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667750" y="2495550"/>
            <a:ext cx="114300" cy="1028700"/>
          </a:xfrm>
          <a:prstGeom prst="rect">
            <a:avLst/>
          </a:prstGeom>
          <a:solidFill>
            <a:srgbClr val="0C6DB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978265" y="274415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Full best RMSE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59215" y="2982278"/>
            <a:ext cx="104664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C6DB8"/>
                </a:solidFill>
                <a:latin typeface="Arial"/>
                <a:ea typeface="Microsoft YaHei"/>
                <a:cs typeface="Arial"/>
              </a:rPr>
              <a:t>17.33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667750" y="3733800"/>
            <a:ext cx="2781300" cy="10287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8667750" y="3733800"/>
            <a:ext cx="114300" cy="1028700"/>
          </a:xfrm>
          <a:prstGeom prst="rect">
            <a:avLst/>
          </a:prstGeom>
          <a:solidFill>
            <a:srgbClr val="E06A3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978265" y="3982402"/>
            <a:ext cx="11048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No subway delta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959215" y="4220528"/>
            <a:ext cx="104664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E06A36"/>
                </a:solidFill>
                <a:latin typeface="Arial"/>
                <a:ea typeface="Microsoft YaHei"/>
                <a:cs typeface="Arial"/>
              </a:rPr>
              <a:t>+0.94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028700" y="5619750"/>
            <a:ext cx="10420350" cy="62865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335405" y="5864542"/>
            <a:ext cx="95043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汇报口径：空间特征“保留但不夸大”。真正决定下一小时净流量的，仍然是当前供需状态、历史 lag 和小时周期。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6739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66700" y="323850"/>
            <a:ext cx="533400" cy="6210300"/>
          </a:xfrm>
          <a:prstGeom prst="roundRect">
            <a:avLst>
              <a:gd name="adj" fmla="val 32143"/>
            </a:avLst>
          </a:prstGeom>
          <a:solidFill>
            <a:srgbClr val="557F7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1923" y="6248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6556" y="15440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6556" y="18488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键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6556" y="21536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6556" y="24584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量</a:t>
            </a:r>
          </a:p>
        </p:txBody>
      </p:sp>
      <p:sp>
        <p:nvSpPr>
          <p:cNvPr id="9" name="Rectangle 9"/>
          <p:cNvSpPr/>
          <p:nvPr/>
        </p:nvSpPr>
        <p:spPr>
          <a:xfrm>
            <a:off x="1047750" y="438150"/>
            <a:ext cx="6762750" cy="5219700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1183144"/>
            <a:ext cx="6457950" cy="3729711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8115300" y="647700"/>
            <a:ext cx="3333750" cy="44767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8115300" y="647700"/>
            <a:ext cx="3333750" cy="133350"/>
          </a:xfrm>
          <a:prstGeom prst="rect">
            <a:avLst/>
          </a:prstGeom>
          <a:solidFill>
            <a:srgbClr val="557F7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397240" y="10248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557F7C"/>
                </a:solidFill>
                <a:latin typeface="Arial"/>
                <a:ea typeface="Microsoft YaHei"/>
                <a:cs typeface="Arial"/>
              </a:rPr>
              <a:t>解释重点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02955" y="1549718"/>
            <a:ext cx="2520315" cy="1988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net_flow 排名第一，说明当前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区域供需状态最重要。</a:t>
            </a:r>
          </a:p>
          <a:p>
            <a:pPr algn="l">
              <a:lnSpc>
                <a:spcPts val="2400"/>
              </a:lnSpc>
              <a:spcBef>
                <a:spcPts val="750"/>
              </a:spcBef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hour_sin / hour 进入前列，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说明通勤周期非常明显。</a:t>
            </a:r>
          </a:p>
          <a:p>
            <a:pPr algn="l">
              <a:lnSpc>
                <a:spcPts val="2400"/>
              </a:lnSpc>
              <a:spcBef>
                <a:spcPts val="750"/>
              </a:spcBef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subway_count_1000m 进入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Top 10，提供区域差异修正。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420100" y="4343400"/>
            <a:ext cx="876300" cy="342900"/>
          </a:xfrm>
          <a:prstGeom prst="roundRect">
            <a:avLst>
              <a:gd name="adj" fmla="val 50000"/>
            </a:avLst>
          </a:prstGeom>
          <a:solidFill>
            <a:srgbClr val="0C6DB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642765" y="4458652"/>
            <a:ext cx="4309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state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467850" y="4343400"/>
            <a:ext cx="876300" cy="342900"/>
          </a:xfrm>
          <a:prstGeom prst="roundRect">
            <a:avLst>
              <a:gd name="adj" fmla="val 50000"/>
            </a:avLst>
          </a:prstGeom>
          <a:solidFill>
            <a:srgbClr val="28C0CD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734620" y="4458652"/>
            <a:ext cx="3427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time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0515600" y="4343400"/>
            <a:ext cx="876300" cy="342900"/>
          </a:xfrm>
          <a:prstGeom prst="roundRect">
            <a:avLst>
              <a:gd name="adj" fmla="val 50000"/>
            </a:avLst>
          </a:prstGeom>
          <a:solidFill>
            <a:srgbClr val="E06A3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683133" y="4458652"/>
            <a:ext cx="5412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subway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047750" y="5905500"/>
            <a:ext cx="10401300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354455" y="6016942"/>
            <a:ext cx="8370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这一页回答“模型到底靠什么预测”：当前供需状态和时间周期是主因，地铁特征提供局部空间修正。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67396" y="63255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66700" y="323850"/>
            <a:ext cx="533400" cy="6210300"/>
          </a:xfrm>
          <a:prstGeom prst="roundRect">
            <a:avLst>
              <a:gd name="adj" fmla="val 32143"/>
            </a:avLst>
          </a:prstGeom>
          <a:solidFill>
            <a:srgbClr val="0C6DB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1923" y="6248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6556" y="15440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6556" y="18488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练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6556" y="21536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诊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6556" y="24584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断</a:t>
            </a:r>
          </a:p>
        </p:txBody>
      </p:sp>
      <p:sp>
        <p:nvSpPr>
          <p:cNvPr id="9" name="Rectangle 9"/>
          <p:cNvSpPr/>
          <p:nvPr/>
        </p:nvSpPr>
        <p:spPr>
          <a:xfrm>
            <a:off x="1028700" y="514350"/>
            <a:ext cx="723900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090" y="704850"/>
            <a:ext cx="5900220" cy="371475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8572500" y="723900"/>
            <a:ext cx="2857500" cy="17526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8572500" y="723900"/>
            <a:ext cx="2857500" cy="133350"/>
          </a:xfrm>
          <a:prstGeom prst="rect">
            <a:avLst/>
          </a:prstGeom>
          <a:solidFill>
            <a:srgbClr val="0C6DB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835390" y="1062990"/>
            <a:ext cx="180994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C6DB8"/>
                </a:solidFill>
                <a:latin typeface="Arial"/>
                <a:ea typeface="Microsoft YaHei"/>
                <a:cs typeface="Arial"/>
              </a:rPr>
              <a:t>训练是否稳定？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41105" y="1549718"/>
            <a:ext cx="2434590" cy="5600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训练集和验证集 loss 都快速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下降并进入平台期，没有发散。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572500" y="2781300"/>
            <a:ext cx="2857500" cy="17526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572500" y="2781300"/>
            <a:ext cx="2857500" cy="133350"/>
          </a:xfrm>
          <a:prstGeom prst="rect">
            <a:avLst/>
          </a:prstGeom>
          <a:solidFill>
            <a:srgbClr val="28C0C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835390" y="31203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8C0CD"/>
                </a:solidFill>
                <a:latin typeface="Arial"/>
                <a:ea typeface="Microsoft YaHei"/>
                <a:cs typeface="Arial"/>
              </a:rPr>
              <a:t>怎么讲？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41105" y="3607118"/>
            <a:ext cx="2263140" cy="5600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先证明训练过程可靠，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再进入预测贴合和风险排序。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028700" y="5067300"/>
            <a:ext cx="104013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335405" y="5340668"/>
            <a:ext cx="70281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这页的作用是建立可信度：模型不是只在训练集上硬拟合，验证集误差也稳定下降。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16739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66700" y="323850"/>
            <a:ext cx="533400" cy="6210300"/>
          </a:xfrm>
          <a:prstGeom prst="roundRect">
            <a:avLst>
              <a:gd name="adj" fmla="val 32143"/>
            </a:avLst>
          </a:prstGeom>
          <a:solidFill>
            <a:srgbClr val="28C0C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1923" y="6248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6556" y="15440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6556" y="18488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6556" y="21536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贴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6556" y="24584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合</a:t>
            </a:r>
          </a:p>
        </p:txBody>
      </p:sp>
      <p:sp>
        <p:nvSpPr>
          <p:cNvPr id="9" name="Rectangle 9"/>
          <p:cNvSpPr/>
          <p:nvPr/>
        </p:nvSpPr>
        <p:spPr>
          <a:xfrm>
            <a:off x="1104900" y="323850"/>
            <a:ext cx="5334000" cy="588645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249186"/>
            <a:ext cx="4953000" cy="4035778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6819900" y="647700"/>
            <a:ext cx="4476750" cy="447675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819900" y="647700"/>
            <a:ext cx="4476750" cy="133350"/>
          </a:xfrm>
          <a:prstGeom prst="rect">
            <a:avLst/>
          </a:prstGeom>
          <a:solidFill>
            <a:srgbClr val="28C0CD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139940" y="102489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8C0CD"/>
                </a:solidFill>
                <a:latin typeface="Arial"/>
                <a:ea typeface="Microsoft YaHei"/>
                <a:cs typeface="Arial"/>
              </a:rPr>
              <a:t>这张图怎么讲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45655" y="1606868"/>
            <a:ext cx="3266123" cy="1988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点云沿对角线分布，说明预测值和真实值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整体方向一致。</a:t>
            </a:r>
          </a:p>
          <a:p>
            <a:pPr algn="l">
              <a:lnSpc>
                <a:spcPts val="2400"/>
              </a:lnSpc>
              <a:spcBef>
                <a:spcPts val="750"/>
              </a:spcBef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中心区域样本密度最高，表示大部分区域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小时净流量处于中低波动范围。</a:t>
            </a:r>
          </a:p>
          <a:p>
            <a:pPr algn="l">
              <a:lnSpc>
                <a:spcPts val="2400"/>
              </a:lnSpc>
              <a:spcBef>
                <a:spcPts val="750"/>
              </a:spcBef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极端正负净流量偏离更大，是高峰调度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风险识别的难点。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162800" y="4267200"/>
            <a:ext cx="16764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7162800" y="4267200"/>
            <a:ext cx="114300" cy="685800"/>
          </a:xfrm>
          <a:prstGeom prst="rect">
            <a:avLst/>
          </a:prstGeom>
          <a:solidFill>
            <a:srgbClr val="0C6DB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416165" y="4420552"/>
            <a:ext cx="7127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Test rows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06640" y="4625340"/>
            <a:ext cx="8774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C6DB8"/>
                </a:solidFill>
                <a:latin typeface="Arial"/>
                <a:ea typeface="Microsoft YaHei"/>
                <a:cs typeface="Arial"/>
              </a:rPr>
              <a:t>52,560</a:t>
            </a:r>
          </a:p>
        </p:txBody>
      </p:sp>
      <p:sp>
        <p:nvSpPr>
          <p:cNvPr id="19" name="Rectangle 19"/>
          <p:cNvSpPr/>
          <p:nvPr/>
        </p:nvSpPr>
        <p:spPr>
          <a:xfrm>
            <a:off x="9144000" y="4267200"/>
            <a:ext cx="16764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9144000" y="4267200"/>
            <a:ext cx="114300" cy="685800"/>
          </a:xfrm>
          <a:prstGeom prst="rect">
            <a:avLst/>
          </a:prstGeom>
          <a:solidFill>
            <a:srgbClr val="E06A3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397365" y="4420552"/>
            <a:ext cx="4887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Target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87840" y="4625340"/>
            <a:ext cx="107904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06A36"/>
                </a:solidFill>
                <a:latin typeface="Arial"/>
                <a:ea typeface="Microsoft YaHei"/>
                <a:cs typeface="Arial"/>
              </a:rPr>
              <a:t>net flow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6739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66700" y="323850"/>
            <a:ext cx="533400" cy="6210300"/>
          </a:xfrm>
          <a:prstGeom prst="roundRect">
            <a:avLst>
              <a:gd name="adj" fmla="val 32143"/>
            </a:avLst>
          </a:prstGeom>
          <a:solidFill>
            <a:srgbClr val="E06A3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1923" y="6248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6556" y="15440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6556" y="18488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6556" y="21536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误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6556" y="24584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差</a:t>
            </a:r>
          </a:p>
        </p:txBody>
      </p:sp>
      <p:sp>
        <p:nvSpPr>
          <p:cNvPr id="9" name="Rectangle 9"/>
          <p:cNvSpPr/>
          <p:nvPr/>
        </p:nvSpPr>
        <p:spPr>
          <a:xfrm>
            <a:off x="1028700" y="552450"/>
            <a:ext cx="71437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400" y="742950"/>
            <a:ext cx="5974350" cy="371475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8496300" y="781050"/>
            <a:ext cx="2857500" cy="32385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8496300" y="781050"/>
            <a:ext cx="2857500" cy="133350"/>
          </a:xfrm>
          <a:prstGeom prst="rect">
            <a:avLst/>
          </a:prstGeom>
          <a:solidFill>
            <a:srgbClr val="E06A3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778240" y="115824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06A36"/>
                </a:solidFill>
                <a:latin typeface="Arial"/>
                <a:ea typeface="Microsoft YaHei"/>
                <a:cs typeface="Arial"/>
              </a:rPr>
              <a:t>高峰更难预测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83955" y="1702118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误差在早晚高峰升高，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说明通勤时段的区域流入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和流出更加集中，净流量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极端值更多。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839200" y="3276600"/>
            <a:ext cx="895350" cy="361950"/>
          </a:xfrm>
          <a:prstGeom prst="roundRect">
            <a:avLst>
              <a:gd name="adj" fmla="val 50000"/>
            </a:avLst>
          </a:prstGeom>
          <a:solidFill>
            <a:srgbClr val="28C0C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071390" y="3401378"/>
            <a:ext cx="4309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08:00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925050" y="3276600"/>
            <a:ext cx="895350" cy="361950"/>
          </a:xfrm>
          <a:prstGeom prst="roundRect">
            <a:avLst>
              <a:gd name="adj" fmla="val 50000"/>
            </a:avLst>
          </a:prstGeom>
          <a:solidFill>
            <a:srgbClr val="E06A3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157240" y="3401378"/>
            <a:ext cx="4309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17:00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028700" y="5124450"/>
            <a:ext cx="10325100" cy="74295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335405" y="5416868"/>
            <a:ext cx="74062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这页自然过渡到调度风险：模型误差最高的时段，正好也是运营最需要提前介入的时段。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16739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66700" y="323850"/>
            <a:ext cx="533400" cy="6210300"/>
          </a:xfrm>
          <a:prstGeom prst="roundRect">
            <a:avLst>
              <a:gd name="adj" fmla="val 32143"/>
            </a:avLst>
          </a:prstGeom>
          <a:solidFill>
            <a:srgbClr val="CC4C3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1923" y="6248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6556" y="15440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风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6556" y="18488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险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6556" y="21536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排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6556" y="24584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序</a:t>
            </a:r>
          </a:p>
        </p:txBody>
      </p:sp>
      <p:sp>
        <p:nvSpPr>
          <p:cNvPr id="9" name="Rectangle 9"/>
          <p:cNvSpPr/>
          <p:nvPr/>
        </p:nvSpPr>
        <p:spPr>
          <a:xfrm>
            <a:off x="1028700" y="438150"/>
            <a:ext cx="5105400" cy="37338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835457"/>
            <a:ext cx="4800600" cy="2939186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6400800" y="438150"/>
            <a:ext cx="5105400" cy="37338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pic>
        <p:nvPicPr>
          <p:cNvPr id="12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827048"/>
            <a:ext cx="4800600" cy="2956003"/>
          </a:xfrm>
          <a:prstGeom prst="rect">
            <a:avLst/>
          </a:prstGeom>
        </p:spPr>
      </p:pic>
      <p:sp>
        <p:nvSpPr>
          <p:cNvPr id="13" name="Rectangle 13"/>
          <p:cNvSpPr/>
          <p:nvPr/>
        </p:nvSpPr>
        <p:spPr>
          <a:xfrm>
            <a:off x="1028700" y="4572000"/>
            <a:ext cx="318135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1028700" y="4572000"/>
            <a:ext cx="3181350" cy="133350"/>
          </a:xfrm>
          <a:prstGeom prst="rect">
            <a:avLst/>
          </a:prstGeom>
          <a:solidFill>
            <a:srgbClr val="0C6DB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91590" y="49110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C6DB8"/>
                </a:solidFill>
                <a:latin typeface="Arial"/>
                <a:ea typeface="Microsoft YaHei"/>
                <a:cs typeface="Arial"/>
              </a:rPr>
              <a:t>缺车风险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7305" y="5359718"/>
            <a:ext cx="40037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17:00 附近预测净流量显著为负，建议提前补车。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476750" y="4572000"/>
            <a:ext cx="318135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476750" y="4572000"/>
            <a:ext cx="3181350" cy="133350"/>
          </a:xfrm>
          <a:prstGeom prst="rect">
            <a:avLst/>
          </a:prstGeom>
          <a:solidFill>
            <a:srgbClr val="E06A3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739640" y="49110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06A36"/>
                </a:solidFill>
                <a:latin typeface="Arial"/>
                <a:ea typeface="Microsoft YaHei"/>
                <a:cs typeface="Arial"/>
              </a:rPr>
              <a:t>满桩风险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45355" y="5359718"/>
            <a:ext cx="45438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08:00 附近预测净流量为正，建议移走车辆或预留空桩。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924800" y="4572000"/>
            <a:ext cx="318135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924800" y="4572000"/>
            <a:ext cx="3181350" cy="133350"/>
          </a:xfrm>
          <a:prstGeom prst="rect">
            <a:avLst/>
          </a:prstGeom>
          <a:solidFill>
            <a:srgbClr val="CC4C3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187690" y="491109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C4C36"/>
                </a:solidFill>
                <a:latin typeface="Arial"/>
                <a:ea typeface="Microsoft YaHei"/>
                <a:cs typeface="Arial"/>
              </a:rPr>
              <a:t>为什么分开讲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93405" y="5359718"/>
            <a:ext cx="38147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两类风险方向相反，对应完全不同的运营动作。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6739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66700" y="323850"/>
            <a:ext cx="533400" cy="6210300"/>
          </a:xfrm>
          <a:prstGeom prst="roundRect">
            <a:avLst>
              <a:gd name="adj" fmla="val 32143"/>
            </a:avLst>
          </a:prstGeom>
          <a:solidFill>
            <a:srgbClr val="557F7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1923" y="6248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6556" y="15440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6556" y="18488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6556" y="21536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6556" y="24584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点</a:t>
            </a:r>
          </a:p>
        </p:txBody>
      </p:sp>
      <p:sp>
        <p:nvSpPr>
          <p:cNvPr id="9" name="Rectangle 9"/>
          <p:cNvSpPr/>
          <p:nvPr/>
        </p:nvSpPr>
        <p:spPr>
          <a:xfrm>
            <a:off x="1066800" y="342900"/>
            <a:ext cx="4953000" cy="58293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340910"/>
            <a:ext cx="4610100" cy="383328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6419850" y="590550"/>
            <a:ext cx="4705350" cy="4724400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419850" y="590550"/>
            <a:ext cx="4705350" cy="133350"/>
          </a:xfrm>
          <a:prstGeom prst="rect">
            <a:avLst/>
          </a:prstGeom>
          <a:solidFill>
            <a:srgbClr val="557F7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770370" y="979170"/>
            <a:ext cx="14051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557F7C"/>
                </a:solidFill>
                <a:latin typeface="Arial"/>
                <a:ea typeface="Microsoft YaHei"/>
                <a:cs typeface="Arial"/>
              </a:rPr>
              <a:t>最终结论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83705" y="1721168"/>
            <a:ext cx="3017520" cy="20840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55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最高缺车和满桩风险集中在核心区域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40.76_-73.98。</a:t>
            </a:r>
          </a:p>
          <a:p>
            <a:pPr algn="l">
              <a:lnSpc>
                <a:spcPts val="2550"/>
              </a:lnSpc>
              <a:spcBef>
                <a:spcPts val="750"/>
              </a:spcBef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同一个区域在早高峰和晚高峰呈现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相反方向的车辆压力。</a:t>
            </a:r>
          </a:p>
          <a:p>
            <a:pPr algn="l">
              <a:lnSpc>
                <a:spcPts val="2550"/>
              </a:lnSpc>
              <a:spcBef>
                <a:spcPts val="750"/>
              </a:spcBef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模型输出可以直接转成“何时、何地、</a:t>
            </a: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做什么”的调度清单。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00850" y="4171950"/>
            <a:ext cx="17526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6800850" y="4171950"/>
            <a:ext cx="114300" cy="742950"/>
          </a:xfrm>
          <a:prstGeom prst="rect">
            <a:avLst/>
          </a:prstGeom>
          <a:solidFill>
            <a:srgbClr val="0C6DB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54215" y="4344352"/>
            <a:ext cx="6427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Shortage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44690" y="4568190"/>
            <a:ext cx="8774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C6DB8"/>
                </a:solidFill>
                <a:latin typeface="Arial"/>
                <a:ea typeface="Microsoft YaHei"/>
                <a:cs typeface="Arial"/>
              </a:rPr>
              <a:t>-616.1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915400" y="4171950"/>
            <a:ext cx="17526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8915400" y="4171950"/>
            <a:ext cx="114300" cy="742950"/>
          </a:xfrm>
          <a:prstGeom prst="rect">
            <a:avLst/>
          </a:prstGeom>
          <a:solidFill>
            <a:srgbClr val="E06A3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68765" y="4344352"/>
            <a:ext cx="663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Overflow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59240" y="4568190"/>
            <a:ext cx="8774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06A36"/>
                </a:solidFill>
                <a:latin typeface="Arial"/>
                <a:ea typeface="Microsoft YaHei"/>
                <a:cs typeface="Arial"/>
              </a:rPr>
              <a:t>313.8k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6739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2026-06-22T14:33:46Z</dcterms:created>
  <dcterms:modified xsi:type="dcterms:W3CDTF">2026-06-22T14:33:46Z</dcterms:modified>
  <cp:category/>
  <cp:contentStatus/>
</cp:coreProperties>
</file>